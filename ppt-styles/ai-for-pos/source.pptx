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6056" autoAdjust="0"/>
  </p:normalViewPr>
  <p:slideViewPr>
    <p:cSldViewPr snapToGrid="0">
      <p:cViewPr varScale="1">
        <p:scale>
          <a:sx n="96" d="100"/>
          <a:sy n="96" d="100"/>
        </p:scale>
        <p:origin x="13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012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tags" Target="tags/tag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31.01.2026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31.01.2026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png"/><Relationship Id="rId8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6.jpe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4.png"/><Relationship Id="rId9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277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/>
          </p:cNvSpPr>
          <p:nvPr>
            <p:ph type="dgm" sz="quarter" idx="23" hasCustomPrompt="1"/>
          </p:nvPr>
        </p:nvSpPr>
        <p:spPr>
          <a:xfrm>
            <a:off x="11047200" y="572400"/>
            <a:ext cx="572400" cy="572400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B3353B-CAE7-4145-BC79-D6E4C83E7765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|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>
            <a:extLst>
              <a:ext uri="{FF2B5EF4-FFF2-40B4-BE49-F238E27FC236}">
                <a16:creationId xmlns:a16="http://schemas.microsoft.com/office/drawing/2014/main" id="{BBDF4C60-5A05-4806-A4DE-2458463FB9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6905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14" name="Objekt 13" hidden="1">
                        <a:extLst>
                          <a:ext uri="{FF2B5EF4-FFF2-40B4-BE49-F238E27FC236}">
                            <a16:creationId xmlns:a16="http://schemas.microsoft.com/office/drawing/2014/main" id="{BBDF4C60-5A05-4806-A4DE-2458463FB9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1627"/>
            <a:ext cx="12192000" cy="1412864"/>
          </a:xfrm>
          <a:solidFill>
            <a:srgbClr val="000000">
              <a:alpha val="50000"/>
            </a:srgbClr>
          </a:solidFill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solidFill>
            <a:srgbClr val="000000">
              <a:alpha val="50000"/>
            </a:srgbClr>
          </a:solidFill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3" name="SmartArt-Platzhalter 6">
            <a:extLst>
              <a:ext uri="{FF2B5EF4-FFF2-40B4-BE49-F238E27FC236}">
                <a16:creationId xmlns:a16="http://schemas.microsoft.com/office/drawing/2014/main" id="{9A73E91D-2689-49C7-A58E-E621D71E8696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242C1189-490C-4AEF-A482-D67AEF665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12" name="SmartArt-Platzhalter 4">
            <a:extLst>
              <a:ext uri="{FF2B5EF4-FFF2-40B4-BE49-F238E27FC236}">
                <a16:creationId xmlns:a16="http://schemas.microsoft.com/office/drawing/2014/main" id="{91F38C08-7DAB-40EA-8FF0-2D106FFB8C38}"/>
              </a:ext>
            </a:extLst>
          </p:cNvPr>
          <p:cNvSpPr>
            <a:spLocks noGrp="1"/>
          </p:cNvSpPr>
          <p:nvPr>
            <p:ph type="dgm" sz="quarter" idx="23" hasCustomPrompt="1"/>
          </p:nvPr>
        </p:nvSpPr>
        <p:spPr>
          <a:xfrm>
            <a:off x="11047200" y="572400"/>
            <a:ext cx="572400" cy="5724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4A7759-6E31-438A-9AD1-3FC2E181C7AD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24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sp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tags" Target="../tags/tag2.xml"/><Relationship Id="rId23" Type="http://schemas.openxmlformats.org/officeDocument/2006/relationships/oleObject" Target="../embeddings/oleObject1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1696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44" imgH="344" progId="TCLayout.ActiveDocument.1">
                  <p:embed/>
                </p:oleObj>
              </mc:Choice>
              <mc:Fallback>
                <p:oleObj name="think-cell Folie" r:id="rId2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‹#›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DE-841 | March 2026 | AI for POs with GitHub Copilot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2E0F18-3BCA-96A4-59B9-55E00518ED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1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>
                <a:solidFill>
                  <a:srgbClr val="FFFFFF"/>
                </a:solidFill>
                <a:latin typeface="BMWGroupTN Condensed"/>
              </a:defRPr>
            </a:pPr>
            <a:r>
              <a:t>AI FOR PRODUCT OWNERS</a:t>
            </a:r>
            <a:br/>
            <a:r>
              <a:t>WITH GITHUB COPILOT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000">
                <a:solidFill>
                  <a:srgbClr val="FFFFFF"/>
                </a:solidFill>
                <a:latin typeface="BMWGroupTN Condensed"/>
              </a:defRPr>
            </a:pPr>
            <a:r>
              <a:t>HOW I USE AI AS A PO | AGENT SKILLS | MCP SERVERS</a:t>
            </a:r>
          </a:p>
        </p:txBody>
      </p:sp>
      <p:sp>
        <p:nvSpPr>
          <p:cNvPr id="5" name="SmartArt Placeholder 4"/>
          <p:cNvSpPr>
            <a:spLocks noGrp="1"/>
          </p:cNvSpPr>
          <p:nvPr>
            <p:ph type="dgm" idx="24" sz="quarter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algn="l">
              <a:defRPr sz="1800">
                <a:solidFill>
                  <a:srgbClr val="FFFFFF"/>
                </a:solidFill>
                <a:latin typeface="BMWGroupTN Condensed"/>
              </a:defRPr>
            </a:pPr>
            <a:r>
              <a:t>DE-841</a:t>
            </a:r>
          </a:p>
        </p:txBody>
      </p:sp>
      <p:sp>
        <p:nvSpPr>
          <p:cNvPr id="7" name="SmartArt Placeholder 6"/>
          <p:cNvSpPr>
            <a:spLocks noGrp="1"/>
          </p:cNvSpPr>
          <p:nvPr>
            <p:ph type="dgm" idx="2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35970"/>
                </a:solidFill>
                <a:latin typeface="BMWGroupTN Condensed"/>
              </a:defRPr>
            </a:pPr>
            <a:r>
              <a:t>WHY SHOULD POS CARE ABOUT GITHUB COPILOT?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947" y="1413933"/>
            <a:ext cx="11224684" cy="489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POs spend 60%+ of time on repetitive tasks: writing stories, tracking burndown, creating reports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GitHub Copilot is not just for developers — it is an AI assistant for ANY knowledge work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Custom Agent Skills teach Copilot YOUR domain: BMW processes, JIRA workflows, DLT analysis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MCP Servers connect Copilot to BMW tools: JIRA, Confluence, GitHub, DLT logs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Result: Automate hours of manual work into minutes with consistent, brand-compliant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MY AI TOOLKIT: THE AGENTSKILLS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947" y="1413933"/>
            <a:ext cx="11224684" cy="489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0000"/>
                </a:solidFill>
                <a:latin typeface="BMWGroupTN Condensed"/>
              </a:defRPr>
            </a:pPr>
            <a:r>
              <a:t>▪  Repository Structure — 7 custom skills for daily PO work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Each skill has SKILL.md (instructions), references/, examples/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Skills are reusable across Copilot, Claude, and any AI agent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0000"/>
                </a:solidFill>
                <a:latin typeface="BMWGroupTN Condensed"/>
              </a:defRPr>
            </a:pPr>
            <a:r>
              <a:t>▪  How It Works — Skills + MCP = Complete Automation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SKILL.md teaches the AI what to do and how to do it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MCP servers provide live access to JIRA, Confluence, GitHub, DLT logs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0000"/>
                </a:solidFill>
                <a:latin typeface="BMWGroupTN Condensed"/>
              </a:defRPr>
            </a:pPr>
            <a:r>
              <a:t>▪  Key Principle — Build once, reuse everywhere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Write a skill once, use it in VS Code, CLI, or API-based agents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BMWGroupTN Condensed"/>
              </a:defRPr>
            </a:pPr>
            <a:r>
              <a:t>     -  Skills evolve over time with refinements and new reference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ARCHITECTURE: SKILLS + MCP SERVERS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2686050" cy="457200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35970"/>
                </a:solidFill>
                <a:latin typeface="BMWGroupTN Condense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41173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BMWGroupTN Condensed"/>
              </a:defRPr>
            </a:pPr>
            <a:r>
              <a:t>AGENT SKILLS</a:t>
            </a:r>
            <a:br/>
            <a:r>
              <a:t>(SKILL.MD)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4117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BMWGroupTN Condensed"/>
              </a:defRPr>
            </a:pPr>
            <a:r>
              <a:t>Domain instructions that</a:t>
            </a:r>
            <a:br/>
            <a:r>
              <a:t>teach AI your workflows.</a:t>
            </a:r>
            <a:br/>
            <a:br/>
            <a:r>
              <a:t>• bmw-brand-skill</a:t>
            </a:r>
            <a:br/>
            <a:r>
              <a:t>• burndown-tracker</a:t>
            </a:r>
            <a:br/>
            <a:r>
              <a:t>• dlt-defect-analyser</a:t>
            </a:r>
            <a:br/>
            <a:r>
              <a:t>• dlt-log-analyser</a:t>
            </a:r>
            <a:br/>
            <a:r>
              <a:t>• hlf-writer</a:t>
            </a:r>
            <a:br/>
            <a:r>
              <a:t>• user-story-writer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0410" y="1005840"/>
            <a:ext cx="2686050" cy="4572000"/>
          </a:xfrm>
          <a:prstGeom prst="roundRect">
            <a:avLst/>
          </a:prstGeom>
          <a:solidFill>
            <a:srgbClr val="548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17570" y="1143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757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48D9E"/>
                </a:solidFill>
                <a:latin typeface="BMWGroupTN Condensed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7570" y="1691640"/>
            <a:ext cx="241173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BMWGroupTN Condensed"/>
              </a:defRPr>
            </a:pPr>
            <a:r>
              <a:t>MCP SERVERS</a:t>
            </a:r>
            <a:br/>
            <a:r>
              <a:t>(TOOL LAYER)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7570" y="2377440"/>
            <a:ext cx="24117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BMWGroupTN Condensed"/>
              </a:defRPr>
            </a:pPr>
            <a:r>
              <a:t>Connect AI to live systems.</a:t>
            </a:r>
            <a:br/>
            <a:br/>
            <a:r>
              <a:t>• JIRA MCP — create/query tickets</a:t>
            </a:r>
            <a:br/>
            <a:r>
              <a:t>• Confluence MCP — read/write pages</a:t>
            </a:r>
            <a:br/>
            <a:r>
              <a:t>• GitHub MCP — PRs, repos, code</a:t>
            </a:r>
            <a:br/>
            <a:r>
              <a:t>• DLT MCP — parse vehicle logs</a:t>
            </a:r>
            <a:br/>
            <a:br/>
            <a:r>
              <a:t>Open standard: modelcontextprotocol.io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005840"/>
            <a:ext cx="2686050" cy="4572000"/>
          </a:xfrm>
          <a:prstGeom prst="roundRect">
            <a:avLst/>
          </a:prstGeom>
          <a:solidFill>
            <a:srgbClr val="85A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32220" y="1143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222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5ACB9"/>
                </a:solidFill>
                <a:latin typeface="BMWGroupTN Condensed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1691640"/>
            <a:ext cx="241173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BMWGroupTN Condensed"/>
              </a:defRPr>
            </a:pPr>
            <a:r>
              <a:t>GITHUB COPILOT</a:t>
            </a:r>
            <a:br/>
            <a:r>
              <a:t>(AI ENGINE)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2377440"/>
            <a:ext cx="24117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BMWGroupTN Condensed"/>
              </a:defRPr>
            </a:pPr>
            <a:r>
              <a:t>Orchestrates skills + tools.</a:t>
            </a:r>
            <a:br/>
            <a:br/>
            <a:r>
              <a:t>• Reads SKILL.md instructions</a:t>
            </a:r>
            <a:br/>
            <a:r>
              <a:t>• Calls MCP tools as needed</a:t>
            </a:r>
            <a:br/>
            <a:r>
              <a:t>• Generates code, reports, PPTs</a:t>
            </a:r>
            <a:br/>
            <a:r>
              <a:t>• Follows BMW brand guidelines</a:t>
            </a:r>
            <a:br/>
            <a:br/>
            <a:r>
              <a:t>Works in VS Code natively.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9710" y="1005840"/>
            <a:ext cx="2686050" cy="4572000"/>
          </a:xfrm>
          <a:prstGeom prst="roundRect">
            <a:avLst/>
          </a:prstGeom>
          <a:solidFill>
            <a:srgbClr val="ABC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46870" y="1143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687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BC4CF"/>
                </a:solidFill>
                <a:latin typeface="BMWGroupTN Condensed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6870" y="1691640"/>
            <a:ext cx="241173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BMWGroupTN Condensed"/>
              </a:defRPr>
            </a:pPr>
            <a:r>
              <a:t>OUTPUT</a:t>
            </a:r>
            <a:br/>
            <a:r>
              <a:t>(DELIVERABLES)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2377440"/>
            <a:ext cx="24117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BMWGroupTN Condensed"/>
              </a:defRPr>
            </a:pPr>
            <a:r>
              <a:t>Production-ready artifacts.</a:t>
            </a:r>
            <a:br/>
            <a:br/>
            <a:r>
              <a:t>• BMW-branded presentations</a:t>
            </a:r>
            <a:br/>
            <a:r>
              <a:t>• Burndown Excel reports</a:t>
            </a:r>
            <a:br/>
            <a:r>
              <a:t>• JIRA user stories &amp; HLFs</a:t>
            </a:r>
            <a:br/>
            <a:r>
              <a:t>• DLT defect analysis reports</a:t>
            </a:r>
            <a:br/>
            <a:br/>
            <a:r>
              <a:t>Consistent quality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BMW BRAND SKILL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Ensures brand consistency by applying BMW styling patterns to all presentations and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Extracts styling from PPT templates or uses BMW defaults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Applies Ocean Blue #035970 theme, BMW typography, logos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Generates python-pptx code with correct layouts and footers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Validates brand compliance: colors, fonts, slide structure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Supports both default (Presentation1.pptx) and custom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"Create a presentation on AI for POs"</a:t>
            </a:r>
            <a:br/>
            <a:br/>
            <a:r>
              <a:t>Output: AI_for_POs_BMW.pptx</a:t>
            </a:r>
            <a:br/>
            <a:r>
              <a:t>────────────────</a:t>
            </a:r>
            <a:br/>
            <a:r>
              <a:t>Slide 1: Title | Full Picture layout</a:t>
            </a:r>
            <a:br/>
            <a:r>
              <a:t>  • BMW gradient background (auto)</a:t>
            </a:r>
            <a:br/>
            <a:r>
              <a:t>  • Roundel + GROUP logos (auto)</a:t>
            </a:r>
            <a:br/>
            <a:r>
              <a:t>  • Department badge: DE-841</a:t>
            </a:r>
            <a:br/>
            <a:br/>
            <a:r>
              <a:t>Slide 2-11: Content slides</a:t>
            </a:r>
            <a:br/>
            <a:r>
              <a:t>  • 26pt UPPERCASE Ocean Blue titles</a:t>
            </a:r>
            <a:br/>
            <a:r>
              <a:t>  • 18pt body with ▪ bullet style</a:t>
            </a:r>
            <a:br/>
            <a:r>
              <a:t>  • Master footer: DE-841 | Date | Topic</a:t>
            </a:r>
            <a:br/>
            <a:r>
              <a:t>  • Diagrams with brand color palette</a:t>
            </a:r>
            <a:br/>
            <a:br/>
            <a:r>
              <a:t>Brand validated ✓ | 11 slides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BURNDOWN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Tracks story point burndown vs forecasted velocity. Generates Excel with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Extracts JIRA issues via JQL using Bearer token auth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Groups issues by month, calculates cumulative burn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Generates Excel: Monthly Burndown, Current Month, Closed Issues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Creates burndown chart: actual (blue) vs forecast (red)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Handles cross-year rollover (Dec tickets → Jan)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"Generate burndown for label</a:t>
            </a:r>
            <a:br/>
            <a:r>
              <a:t>tsp_gl_robin2_eoy_2025, 1008 SP, 12 months"</a:t>
            </a:r>
            <a:br/>
            <a:br/>
            <a:r>
              <a:t>Output: burndown_report.xlsx</a:t>
            </a:r>
            <a:br/>
            <a:r>
              <a:t>────────────────</a:t>
            </a:r>
            <a:br/>
            <a:r>
              <a:t>BURNDOWN SUMMARY — March 2026</a:t>
            </a:r>
            <a:br/>
            <a:r>
              <a:t>  Total forecasted:   1008 SP</a:t>
            </a:r>
            <a:br/>
            <a:r>
              <a:t>  Monthly forecast:   84 SP/month</a:t>
            </a:r>
            <a:br/>
            <a:r>
              <a:t>  Actual closed:      112 SP</a:t>
            </a:r>
            <a:br/>
            <a:r>
              <a:t>  Variance:           -140 BEHIND</a:t>
            </a:r>
            <a:br/>
            <a:br/>
            <a:r>
              <a:t>  Jan 2026: 29 SP  (forecast: 84)</a:t>
            </a:r>
            <a:br/>
            <a:r>
              <a:t>  Feb 2026: 83 SP  (forecast: 168)</a:t>
            </a:r>
            <a:br/>
            <a:r>
              <a:t>  Mar 2026:  0 SP  (forecast: 252)</a:t>
            </a:r>
            <a:br/>
            <a:br/>
            <a:r>
              <a:t>  Current Month: 3 In Review (22 SP),</a:t>
            </a:r>
            <a:br/>
            <a:r>
              <a:t>  6 In Specification, 4 New, 1 Open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DLT DEFECT ANALYSER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Analyzes DLT logs from automotive ECUs to identify root causes of defects using MCP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Uses DLT MCP server: stats, search, filter, context, time_range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Pre-configured for Provisioning domain (PROV, PROI, PDS)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Detects FATAL, ERROR, WARNING patterns with priority ranking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Correlates events: gets context before/after each error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Outputs prioritized root cause analysis with error codes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"Provisioning stuck in DAS mode.</a:t>
            </a:r>
            <a:br/>
            <a:r>
              <a:t>Check /dltLogs/*.dlt"</a:t>
            </a:r>
            <a:br/>
            <a:br/>
            <a:r>
              <a:t>Output: DLT Defect Analysis Report</a:t>
            </a:r>
            <a:br/>
            <a:r>
              <a:t>────────────────</a:t>
            </a:r>
            <a:br/>
            <a:r>
              <a:t>Top 3 Probable Causes:</a:t>
            </a:r>
            <a:br/>
            <a:br/>
            <a:r>
              <a:t>1. DAS File Unavailable [HIGH]</a:t>
            </a:r>
            <a:br/>
            <a:r>
              <a:t>   Code: 0x10d03000</a:t>
            </a:r>
            <a:br/>
            <a:r>
              <a:t>   "DAS file is unavailable (index 12)"</a:t>
            </a:r>
            <a:br/>
            <a:r>
              <a:t>   Action: Verify ECU coding</a:t>
            </a:r>
            <a:br/>
            <a:br/>
            <a:r>
              <a:t>2. DAS Index Not Obtained [HIGH]</a:t>
            </a:r>
            <a:br/>
            <a:r>
              <a:t>   Code: 0x10401000</a:t>
            </a:r>
            <a:br/>
            <a:r>
              <a:t>   Action: Re-code ECU with valid index</a:t>
            </a:r>
            <a:br/>
            <a:br/>
            <a:r>
              <a:t>3. No OTA Data Available [MEDIUM]</a:t>
            </a:r>
            <a:br/>
            <a:r>
              <a:t>   Expected until new OTA received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DLT LOG ANALYSER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Generic, domain-agnostic DLT analyzer. Interactively asks for your domain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Works for ANY automotive domain: Infotainment, ADAS, Body Control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Asks for domain config: app IDs, ECU IDs, error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Uses same DLT MCP tools: stats, search, filter,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Supports local files, glob patterns, and GitHub repositories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Provides domain-contextualized root cause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"Analyze /vehicle/logs/*.dlt</a:t>
            </a:r>
            <a:br/>
            <a:r>
              <a:t>Issue: Display black after update"</a:t>
            </a:r>
            <a:br/>
            <a:br/>
            <a:r>
              <a:t>Skill asks: Domain? App IDs? ECU IDs?</a:t>
            </a:r>
            <a:br/>
            <a:r>
              <a:t>User: Infotainment, HMI/DISP/NAV, IHUD</a:t>
            </a:r>
            <a:br/>
            <a:r>
              <a:t>────────────────</a:t>
            </a:r>
            <a:br/>
            <a:r>
              <a:t>Analysis Report:</a:t>
            </a:r>
            <a:br/>
            <a:r>
              <a:t>  Domain: Infotainment</a:t>
            </a:r>
            <a:br/>
            <a:r>
              <a:t>  Found: 245 errors, 12 fatal</a:t>
            </a:r>
            <a:br/>
            <a:br/>
            <a:r>
              <a:t>1. Framebuffer Alloc Failed [CRITICAL]</a:t>
            </a:r>
            <a:br/>
            <a:r>
              <a:t>   DISP: Code 0xDEADFB01</a:t>
            </a:r>
            <a:br/>
            <a:r>
              <a:t>   Available: 128KB, Required: 8MB</a:t>
            </a:r>
            <a:br/>
            <a:br/>
            <a:r>
              <a:t>2. Update Service Restart Failed</a:t>
            </a:r>
            <a:br/>
            <a:r>
              <a:t>   HMI service not restarted properly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HLF WRITER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Co-author skill to help POs write High Level Features for JIRA with all required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Guides through structured HLF sections step by step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Sections: Problem Statement, Goals, Requirements, NFRs, Dependencies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Asks probing questions for NFRs: error cases, robustness, corner cases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Supports ICONPM, NODE0PM, IDCEVOPM project creation via JIRA MCP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Follows BMW telematics domain conventions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"Write an HLF for provisioning</a:t>
            </a:r>
            <a:br/>
            <a:r>
              <a:t>hot-reload feature"</a:t>
            </a:r>
            <a:br/>
            <a:br/>
            <a:r>
              <a:t>Output: JIRA HLF ticket</a:t>
            </a:r>
            <a:br/>
            <a:r>
              <a:t>────────────────</a:t>
            </a:r>
            <a:br/>
            <a:r>
              <a:t>h3. Problem Statement</a:t>
            </a:r>
            <a:br/>
            <a:r>
              <a:t>  Current: Full restart for OTA config</a:t>
            </a:r>
            <a:br/>
            <a:r>
              <a:t>  Impact: 500K vehicles, 15min downtime</a:t>
            </a:r>
            <a:br/>
            <a:br/>
            <a:r>
              <a:t>h3. Goals and Objectives</a:t>
            </a:r>
            <a:br/>
            <a:r>
              <a:t>  Reduce update time: 15min → 30sec</a:t>
            </a:r>
            <a:br/>
            <a:r>
              <a:t>  Zero service interruption</a:t>
            </a:r>
            <a:br/>
            <a:br/>
            <a:r>
              <a:t>h3. Non-Functional Requirements</a:t>
            </a:r>
            <a:br/>
            <a:r>
              <a:t>  • Atomic config swap on failure</a:t>
            </a:r>
            <a:br/>
            <a:r>
              <a:t>  • Max 3 retries with backoff</a:t>
            </a:r>
            <a:br/>
            <a:r>
              <a:t>  • ENG vs PROD mode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SKILL: USER STORY WRITER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" y="914400"/>
            <a:ext cx="2011680" cy="365760"/>
          </a:xfrm>
          <a:prstGeom prst="round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BMWGroupTN Condensed"/>
              </a:defRPr>
            </a:pPr>
            <a: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48D9E"/>
                </a:solidFill>
                <a:latin typeface="BMWGroupTN Condensed"/>
              </a:defRPr>
            </a:pPr>
            <a:r>
              <a:t>Creates well-structured user stories with Motivation, Info, Questions, Scope, and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Standard 5-section format: Motivation, Info, Questions, Scope, AC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As a / I want / so that format with specific personas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Includes standard + story-specific acceptance criteria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Creates JIRA tickets in ICONSD or NODE0DEV via MCP after PO confirmation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Supports YAML templates for bulk story creation via JIRA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5669280" cy="5212080"/>
          </a:xfrm>
          <a:prstGeom prst="roundRect">
            <a:avLst/>
          </a:prstGeom>
          <a:solidFill>
            <a:srgbClr val="DEE5EC"/>
          </a:solidFill>
          <a:ln w="12700">
            <a:solidFill>
              <a:srgbClr val="85A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5970"/>
                </a:solidFill>
                <a:latin typeface="BMWGroupTN Condensed"/>
              </a:defRPr>
            </a:pPr>
            <a:r>
              <a:t>▶ 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BMWGroupTN Condensed"/>
              </a:defRPr>
            </a:pPr>
            <a:r>
              <a:t>Prompt: "Write a story for VIN retry</a:t>
            </a:r>
            <a:br/>
            <a:r>
              <a:t>mechanism in provisioningd"</a:t>
            </a:r>
            <a:br/>
            <a:br/>
            <a:r>
              <a:t>Output: JIRA Story</a:t>
            </a:r>
            <a:br/>
            <a:r>
              <a:t>────────────────</a:t>
            </a:r>
            <a:br/>
            <a:r>
              <a:t>Motivation:</a:t>
            </a:r>
            <a:br/>
            <a:r>
              <a:t>  As a provisioning service, I want to</a:t>
            </a:r>
            <a:br/>
            <a:r>
              <a:t>  retry VIN requests when VIN service</a:t>
            </a:r>
            <a:br/>
            <a:r>
              <a:t>  is unavailable so that provisioning</a:t>
            </a:r>
            <a:br/>
            <a:r>
              <a:t>  does not fail due to transient issues.</a:t>
            </a:r>
            <a:br/>
            <a:br/>
            <a:r>
              <a:t>Acceptance Criteria:</a:t>
            </a:r>
            <a:br/>
            <a:r>
              <a:t>  • Retry with exponential backoff (5x)</a:t>
            </a:r>
            <a:br/>
            <a:r>
              <a:t>  • DTC raised after all retries fail</a:t>
            </a:r>
            <a:br/>
            <a:r>
              <a:t>  • Unit tests for retry logic</a:t>
            </a:r>
            <a:br/>
            <a:r>
              <a:t>  • Code merged, docs updated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35970"/>
                </a:solidFill>
                <a:latin typeface="BMWGroupTN Condensed"/>
              </a:defRPr>
            </a:pPr>
            <a:r>
              <a:t>MCP SERVERS: CONNECTING AI TO BMW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394960" cy="502920"/>
          </a:xfrm>
          <a:prstGeom prst="rect">
            <a:avLst/>
          </a:prstGeom>
          <a:solidFill>
            <a:srgbClr val="03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BMWGroupTN Condensed"/>
              </a:defRPr>
            </a:pPr>
            <a:r>
              <a:t>WHAT ARE MCP SERVERS?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Open standard: Model Context Protocol (modelcontextprotocol.io)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Think of it as USB-C for AI — universal tool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AI reads, writes, and orchestrates across live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BMW SW Factory provides MCP servers for internal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No custom API code needed — just configure and 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85A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BMWGroupTN Condensed"/>
              </a:defRPr>
            </a:pPr>
            <a:r>
              <a:t>MCP SERVERS I USE 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JIRA MCP — create stories, query issues, manage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Confluence MCP — read/write pages, search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GitHub MCP — PRs, file content, repo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DLT MCP — parse/filter/search vehicle log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BMWGroupTN Condensed"/>
              </a:defRPr>
            </a:pPr>
            <a:r>
              <a:t>▪  JIRA Tree MCP — bulk-create hierarchical issues from YAML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947" y="347184"/>
            <a:ext cx="112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35970"/>
                </a:solidFill>
                <a:latin typeface="BMWGroupTN Condensed"/>
              </a:defRPr>
            </a:pPr>
            <a:r>
              <a:t>KEY TAKEAWAYS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947" y="1413933"/>
            <a:ext cx="11224684" cy="489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GitHub Copilot + Custom Skills = a PO's AI-powered co-pilot for daily work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Start small: pick ONE repetitive task, write a SKILL.md, and let AI handle it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MCP servers are the bridge — they connect AI to JIRA, Confluence, GitHub, and DLT logs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Skills are shareable: build once, share with your team, evolve over time</a:t>
            </a:r>
          </a:p>
          <a:p>
            <a:pPr algn="l">
              <a:spcAft>
                <a:spcPts val="600"/>
              </a:spcAft>
              <a:defRPr sz="1800">
                <a:solidFill>
                  <a:srgbClr val="000000"/>
                </a:solidFill>
                <a:latin typeface="BMWGroupTN Condensed"/>
              </a:defRPr>
            </a:pPr>
            <a:r>
              <a:t>▪  Next step: Try writing your first skill for a task you do every week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MWG_BMW.potx" id="{DFD7BAF1-58C9-43D7-8691-01054FA2957F}" vid="{8C7A1A51-6F07-4445-9D09-673FD798DCE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BMWG_BMW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BMW Group Condensed</vt:lpstr>
      <vt:lpstr>BMWGroupTN Condensed</vt:lpstr>
      <vt:lpstr>Wingdings</vt:lpstr>
      <vt:lpstr>BMW Group</vt:lpstr>
      <vt:lpstr>think-cell Folie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Suryawanshi Yogita suresh, DE-841</dc:creator>
  <cp:lastModifiedBy>Suryawanshi Yogita suresh, DE-841</cp:lastModifiedBy>
  <cp:revision>1</cp:revision>
  <dcterms:created xsi:type="dcterms:W3CDTF">2026-01-31T21:36:51Z</dcterms:created>
  <dcterms:modified xsi:type="dcterms:W3CDTF">2026-02-01T13:37:32Z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BMW Group:4</vt:lpwstr>
  </property>
  <property fmtid="{D5CDD505-2E9C-101B-9397-08002B2CF9AE}" pid="3" name="ClassificationContentMarkingFooterText">
    <vt:lpwstr>CONFIDENTIAL</vt:lpwstr>
  </property>
</Properties>
</file>